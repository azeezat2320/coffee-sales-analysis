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69" r:id="rId3"/>
    <p:sldId id="260" r:id="rId4"/>
    <p:sldId id="261" r:id="rId5"/>
    <p:sldId id="270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YSISINDIASPORA_MYOGA\COFFEE_SALES_DATASET\archive\COFFEE_SALES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YSISINDIASPORA_MYOGA\COFFEE_SALES_DATASET\archive\COFFEE_SALES_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MYSISINDIASPORA_MYOGA\COFFEE_SALES_DATASET\archive\COFFEE_SALES_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[COFFEE_SALES_ANALYSIS.xlsx]Pivot 3!PivotTable4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Coffee Sales at Time Grouping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1470588847525785"/>
          <c:y val="0.12478462086151655"/>
          <c:w val="0.87919345843461727"/>
          <c:h val="0.791605903740319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'Pivot 3'!$B$3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3'!$A$4:$A$7</c:f>
              <c:strCache>
                <c:ptCount val="3"/>
                <c:pt idx="0">
                  <c:v>Afternoon</c:v>
                </c:pt>
                <c:pt idx="1">
                  <c:v>Evening</c:v>
                </c:pt>
                <c:pt idx="2">
                  <c:v>Morning</c:v>
                </c:pt>
              </c:strCache>
            </c:strRef>
          </c:cat>
          <c:val>
            <c:numRef>
              <c:f>'Pivot 3'!$B$4:$B$7</c:f>
              <c:numCache>
                <c:formatCode>General</c:formatCode>
                <c:ptCount val="3"/>
                <c:pt idx="0">
                  <c:v>39033.339999999676</c:v>
                </c:pt>
                <c:pt idx="1">
                  <c:v>39018.039999999644</c:v>
                </c:pt>
                <c:pt idx="2">
                  <c:v>37380.19999999975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F1-4BD6-B719-16319970DF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925341472"/>
        <c:axId val="925342432"/>
      </c:barChart>
      <c:catAx>
        <c:axId val="925341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342432"/>
        <c:crosses val="autoZero"/>
        <c:auto val="1"/>
        <c:lblAlgn val="ctr"/>
        <c:lblOffset val="100"/>
        <c:noMultiLvlLbl val="0"/>
      </c:catAx>
      <c:valAx>
        <c:axId val="9253424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534147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[COFFEE_SALES_ANALYSIS.xlsx]Coffee_Sales_Qarterly!PivotTable1</c:name>
    <c:fmtId val="4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baseline="0"/>
              <a:t> Coffee  Sales Quarterly</a:t>
            </a:r>
            <a:endParaRPr lang="en-US" b="1"/>
          </a:p>
        </c:rich>
      </c:tx>
      <c:layout>
        <c:manualLayout>
          <c:xMode val="edge"/>
          <c:yMode val="edge"/>
          <c:x val="0.31021108743287823"/>
          <c:y val="4.5275590551181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4055210441565349E-2"/>
          <c:y val="2.2391242341811179E-2"/>
          <c:w val="0.93814074909602718"/>
          <c:h val="0.75686542003690804"/>
        </c:manualLayout>
      </c:layout>
      <c:lineChart>
        <c:grouping val="standard"/>
        <c:varyColors val="0"/>
        <c:ser>
          <c:idx val="0"/>
          <c:order val="0"/>
          <c:tx>
            <c:strRef>
              <c:f>Coffee_Sales_Qarterly!$B$3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Coffee_Sales_Qarterly!$A$4:$A$44</c:f>
              <c:multiLvlStrCache>
                <c:ptCount val="32"/>
                <c:lvl>
                  <c:pt idx="0">
                    <c:v>Qtr1</c:v>
                  </c:pt>
                  <c:pt idx="1">
                    <c:v>Qtr2</c:v>
                  </c:pt>
                  <c:pt idx="2">
                    <c:v>Qtr3</c:v>
                  </c:pt>
                  <c:pt idx="3">
                    <c:v>Qtr4</c:v>
                  </c:pt>
                  <c:pt idx="4">
                    <c:v>Qtr1</c:v>
                  </c:pt>
                  <c:pt idx="5">
                    <c:v>Qtr2</c:v>
                  </c:pt>
                  <c:pt idx="6">
                    <c:v>Qtr3</c:v>
                  </c:pt>
                  <c:pt idx="7">
                    <c:v>Qtr4</c:v>
                  </c:pt>
                  <c:pt idx="8">
                    <c:v>Qtr1</c:v>
                  </c:pt>
                  <c:pt idx="9">
                    <c:v>Qtr2</c:v>
                  </c:pt>
                  <c:pt idx="10">
                    <c:v>Qtr3</c:v>
                  </c:pt>
                  <c:pt idx="11">
                    <c:v>Qtr4</c:v>
                  </c:pt>
                  <c:pt idx="12">
                    <c:v>Qtr1</c:v>
                  </c:pt>
                  <c:pt idx="13">
                    <c:v>Qtr2</c:v>
                  </c:pt>
                  <c:pt idx="14">
                    <c:v>Qtr3</c:v>
                  </c:pt>
                  <c:pt idx="15">
                    <c:v>Qtr4</c:v>
                  </c:pt>
                  <c:pt idx="16">
                    <c:v>Qtr1</c:v>
                  </c:pt>
                  <c:pt idx="17">
                    <c:v>Qtr2</c:v>
                  </c:pt>
                  <c:pt idx="18">
                    <c:v>Qtr3</c:v>
                  </c:pt>
                  <c:pt idx="19">
                    <c:v>Qtr4</c:v>
                  </c:pt>
                  <c:pt idx="20">
                    <c:v>Qtr1</c:v>
                  </c:pt>
                  <c:pt idx="21">
                    <c:v>Qtr2</c:v>
                  </c:pt>
                  <c:pt idx="22">
                    <c:v>Qtr3</c:v>
                  </c:pt>
                  <c:pt idx="23">
                    <c:v>Qtr4</c:v>
                  </c:pt>
                  <c:pt idx="24">
                    <c:v>Qtr1</c:v>
                  </c:pt>
                  <c:pt idx="25">
                    <c:v>Qtr2</c:v>
                  </c:pt>
                  <c:pt idx="26">
                    <c:v>Qtr3</c:v>
                  </c:pt>
                  <c:pt idx="27">
                    <c:v>Qtr4</c:v>
                  </c:pt>
                  <c:pt idx="28">
                    <c:v>Qtr1</c:v>
                  </c:pt>
                  <c:pt idx="29">
                    <c:v>Qtr2</c:v>
                  </c:pt>
                  <c:pt idx="30">
                    <c:v>Qtr3</c:v>
                  </c:pt>
                  <c:pt idx="31">
                    <c:v>Qtr4</c:v>
                  </c:pt>
                </c:lvl>
                <c:lvl>
                  <c:pt idx="0">
                    <c:v>Americano</c:v>
                  </c:pt>
                  <c:pt idx="4">
                    <c:v>Americano with Milk</c:v>
                  </c:pt>
                  <c:pt idx="8">
                    <c:v>Cappuccino</c:v>
                  </c:pt>
                  <c:pt idx="12">
                    <c:v>Cocoa</c:v>
                  </c:pt>
                  <c:pt idx="16">
                    <c:v>Cortado</c:v>
                  </c:pt>
                  <c:pt idx="20">
                    <c:v>Espresso</c:v>
                  </c:pt>
                  <c:pt idx="24">
                    <c:v>Hot Chocolate</c:v>
                  </c:pt>
                  <c:pt idx="28">
                    <c:v>Latte</c:v>
                  </c:pt>
                </c:lvl>
              </c:multiLvlStrCache>
            </c:multiLvlStrRef>
          </c:cat>
          <c:val>
            <c:numRef>
              <c:f>Coffee_Sales_Qarterly!$B$4:$B$44</c:f>
              <c:numCache>
                <c:formatCode>General</c:formatCode>
                <c:ptCount val="32"/>
                <c:pt idx="0">
                  <c:v>7379.0400000000081</c:v>
                </c:pt>
                <c:pt idx="1">
                  <c:v>2741.6200000000031</c:v>
                </c:pt>
                <c:pt idx="2">
                  <c:v>2449.4399999999987</c:v>
                </c:pt>
                <c:pt idx="3">
                  <c:v>2492.1600000000026</c:v>
                </c:pt>
                <c:pt idx="4">
                  <c:v>6986.5399999999745</c:v>
                </c:pt>
                <c:pt idx="5">
                  <c:v>5584.139999999994</c:v>
                </c:pt>
                <c:pt idx="6">
                  <c:v>6804.1800000000103</c:v>
                </c:pt>
                <c:pt idx="7">
                  <c:v>5894.2599999999866</c:v>
                </c:pt>
                <c:pt idx="8">
                  <c:v>5143.2200000000184</c:v>
                </c:pt>
                <c:pt idx="9">
                  <c:v>5473</c:v>
                </c:pt>
                <c:pt idx="10">
                  <c:v>3555.8400000000065</c:v>
                </c:pt>
                <c:pt idx="11">
                  <c:v>3862.0800000000108</c:v>
                </c:pt>
                <c:pt idx="12">
                  <c:v>3808.2000000000103</c:v>
                </c:pt>
                <c:pt idx="13">
                  <c:v>763.46000000000026</c:v>
                </c:pt>
                <c:pt idx="14">
                  <c:v>959.62000000000057</c:v>
                </c:pt>
                <c:pt idx="15">
                  <c:v>3146.8800000000065</c:v>
                </c:pt>
                <c:pt idx="16">
                  <c:v>1751.8400000000008</c:v>
                </c:pt>
                <c:pt idx="17">
                  <c:v>1553.6000000000006</c:v>
                </c:pt>
                <c:pt idx="18">
                  <c:v>2204.5399999999991</c:v>
                </c:pt>
                <c:pt idx="19">
                  <c:v>2024.8800000000019</c:v>
                </c:pt>
                <c:pt idx="20">
                  <c:v>914.91999999999894</c:v>
                </c:pt>
                <c:pt idx="21">
                  <c:v>586.3399999999998</c:v>
                </c:pt>
                <c:pt idx="22">
                  <c:v>744.40000000000009</c:v>
                </c:pt>
                <c:pt idx="23">
                  <c:v>568.61999999999989</c:v>
                </c:pt>
                <c:pt idx="24">
                  <c:v>3357.200000000008</c:v>
                </c:pt>
                <c:pt idx="25">
                  <c:v>1563.4600000000007</c:v>
                </c:pt>
                <c:pt idx="26">
                  <c:v>924.84000000000049</c:v>
                </c:pt>
                <c:pt idx="27">
                  <c:v>4326.9600000000137</c:v>
                </c:pt>
                <c:pt idx="28">
                  <c:v>7310.0200000000332</c:v>
                </c:pt>
                <c:pt idx="29">
                  <c:v>5277.119999999999</c:v>
                </c:pt>
                <c:pt idx="30">
                  <c:v>6875.5599999999895</c:v>
                </c:pt>
                <c:pt idx="31">
                  <c:v>8403.6000000000386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AF-4FE6-BA7D-FC8411CE3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7334719"/>
        <c:axId val="1737333279"/>
      </c:lineChart>
      <c:catAx>
        <c:axId val="17373347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333279"/>
        <c:crosses val="autoZero"/>
        <c:auto val="1"/>
        <c:lblAlgn val="ctr"/>
        <c:lblOffset val="100"/>
        <c:noMultiLvlLbl val="0"/>
      </c:catAx>
      <c:valAx>
        <c:axId val="1737333279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3347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[COFFEE_SALES_ANALYSIS.xlsx]Preferred Payment_Method!PivotTable3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Preferred</a:t>
            </a:r>
            <a:r>
              <a:rPr lang="en-US" b="1" baseline="0"/>
              <a:t> Payment Method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'Preferred Payment_Method'!$B$4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'Preferred Payment_Method'!$A$5:$A$7</c:f>
              <c:strCache>
                <c:ptCount val="2"/>
                <c:pt idx="0">
                  <c:v>card</c:v>
                </c:pt>
                <c:pt idx="1">
                  <c:v>cash</c:v>
                </c:pt>
              </c:strCache>
            </c:strRef>
          </c:cat>
          <c:val>
            <c:numRef>
              <c:f>'Preferred Payment_Method'!$B$5:$B$7</c:f>
              <c:numCache>
                <c:formatCode>General</c:formatCode>
                <c:ptCount val="2"/>
                <c:pt idx="0">
                  <c:v>112245.57999999814</c:v>
                </c:pt>
                <c:pt idx="1">
                  <c:v>3186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D3-4F8A-9AA9-9977A32FB5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79919"/>
        <c:axId val="155780879"/>
      </c:barChart>
      <c:catAx>
        <c:axId val="155779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80879"/>
        <c:crosses val="autoZero"/>
        <c:auto val="1"/>
        <c:lblAlgn val="ctr"/>
        <c:lblOffset val="100"/>
        <c:noMultiLvlLbl val="0"/>
      </c:catAx>
      <c:valAx>
        <c:axId val="1557808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79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1417-E8EB-7CDF-6EDC-D272C4E24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082BB-3438-8B3C-4288-96E4C0250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406FC-A1C7-963C-F0D5-921F0B81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440D7-3256-3522-EB28-A2F95826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DCE0-10E1-3C3F-8609-CB5DA39D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2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EE47-12DA-6787-5BDC-57DC7357B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01850-E6A6-B931-6816-1B45AFDC7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76580-CEDC-BB4E-FEB6-08346895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B4C6-84C1-FA47-320B-E3F7EC368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D5D09-5C8B-93E3-2E79-24BFC072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131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9A12D-D062-84B9-99E5-C47D0456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32A32-5FEE-F38F-0D7F-38E6458FF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53DF9-B328-CBD0-DE28-C09427D0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2119-CB6E-2050-58C7-33458B76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50CC1-8602-70FB-180C-9EAD3555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21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6338-6D58-C43A-872D-5175D6D2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84EFF-5C49-64A4-BB67-2B82B4E77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DC277-3181-DDF9-6170-ED1688CE2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D0E59-DC55-A20C-8B83-6BDDBB62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4C55D-69AC-31B5-E6ED-5E13E8FD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741B6-EC57-54CF-00B8-207914B4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210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8571-EA55-D77E-7B9B-0D17B5A9C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955A2-F35C-ED58-AEAB-29AD85321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1C825-1E75-463B-BA4E-81B70887F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367C7-766F-B384-442C-45CBF2070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7C83B-2A50-7F85-E4E8-3FC1847CEE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AD2814-641A-32BD-6F15-4B06365D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9CCB9-69FA-3BA7-3E12-A6747EC3C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6A2BB-8A31-0A81-EC9B-A5147E11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334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C1629-F1B5-F7A9-814C-9EEA123B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2568A-B92C-2724-BFBA-0EB245153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0C143-A6B7-AF0C-E38C-8F2FB38C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4F4535-DF11-92FD-3FE9-CE56E20F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96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7A4EC-D623-CF2B-A123-DBA20F2C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4D1BA-938E-A179-BAB5-088AA672D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9894D-EE93-191D-62CA-3E519104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710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4ACD-4B00-1446-CE3E-DA4D8859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46CF5-0FC1-6CE7-E5AF-D45F9BC86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03C20D-133E-1AFC-A4E1-722F5CE09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5E7F8-EB22-1D97-E66C-9E6A9DBCB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DE63D-1C33-A215-112F-CC89E2EE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5517A-1162-C83A-92A6-0DF27E574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733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1B90-4B8F-7A9B-1124-465CEECF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FC3E7D-71F4-CFAC-1DA4-ED02F09F7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75061-C916-C48E-CF25-FC109111F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CB50-3F07-07D7-996A-784E9362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6AB4C-B5FD-F610-8475-2FA321AA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BCA24-0478-EFBE-09DF-AF296E70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68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BC1A-9977-3DCC-C5BD-70CD13B0A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447644-045B-0C83-3F09-8D3359E42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DC5C0-6212-0CA9-F36C-A5E96C906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7BA52-1A99-772E-7767-D85C38A7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CC01-0F03-840C-DF3E-18C1B06E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42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292FD-5539-8C94-551F-AF616B905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68053-6D8C-4EAF-B93A-D5D4A0547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00101-5F82-BE2B-39CF-537F4052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EA95C-FB46-18DF-2786-AE51F90F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DD47F-CD31-AB6B-CE36-1D9305060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025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D92269-C321-176A-F5BE-385B8FDE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EF442-E48C-AFB7-E506-03DC24720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0BAC4-8224-8D4F-C662-F82089C86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54E7-99CC-4B43-8947-D98628EE3B7E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4CA92-007A-34AF-E124-9F9039EF7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5DA0F-5B03-9B33-D5B1-CDB847483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2F875-82A1-4C3A-AAA3-39950CD94C5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62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B153-DC6E-0880-89B2-0BC3CFC72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764" y="1448042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4000" b="1" dirty="0"/>
              <a:t>Coffee Sales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D6887-3D92-830F-7132-6DD7C7E05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6684" y="1937618"/>
            <a:ext cx="6106160" cy="5482975"/>
          </a:xfrm>
          <a:ln>
            <a:noFill/>
          </a:ln>
        </p:spPr>
        <p:txBody>
          <a:bodyPr>
            <a:normAutofit/>
          </a:bodyPr>
          <a:lstStyle/>
          <a:p>
            <a:endParaRPr lang="en-GB" dirty="0"/>
          </a:p>
          <a:p>
            <a:endParaRPr lang="en-GB" dirty="0"/>
          </a:p>
          <a:p>
            <a:r>
              <a:rPr lang="en-GB" b="1" dirty="0"/>
              <a:t>BY</a:t>
            </a:r>
          </a:p>
          <a:p>
            <a:endParaRPr lang="en-GB" b="1" dirty="0"/>
          </a:p>
          <a:p>
            <a:r>
              <a:rPr lang="en-GB" sz="3600" b="1" dirty="0"/>
              <a:t>AZEEZAT AKINYEMI</a:t>
            </a:r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8CC0F00D-AFAD-68B8-599C-E633C892B5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14656"/>
            <a:ext cx="1171529" cy="780714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F5E2DB51-CA5D-91E7-1BF3-20223344C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1" name="Picture 10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6DDFF9F7-4E31-45E5-24D9-AEF87B605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" y="6512820"/>
            <a:ext cx="549017" cy="365868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3D645EAD-FCF0-510F-19DE-27A5EA377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FCCF2B7-CAB8-3019-7648-D42B535CC288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81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B58A2-8044-78A0-056C-67FA6EA91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9BEF-5A6D-ED5C-E7AB-787EB39BE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54467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4800" b="1" dirty="0"/>
              <a:t>Coffee Sales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7C287-7513-EAA2-07AA-F6CF07DEF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1934" y="1196994"/>
            <a:ext cx="6106160" cy="5482975"/>
          </a:xfrm>
          <a:ln>
            <a:noFill/>
          </a:ln>
        </p:spPr>
        <p:txBody>
          <a:bodyPr>
            <a:normAutofit/>
          </a:bodyPr>
          <a:lstStyle/>
          <a:p>
            <a:endParaRPr lang="en-GB" dirty="0"/>
          </a:p>
          <a:p>
            <a:pPr algn="just"/>
            <a:endParaRPr lang="en-GB" dirty="0"/>
          </a:p>
          <a:p>
            <a:pPr algn="l"/>
            <a:r>
              <a:rPr lang="en-GB" sz="2800" dirty="0"/>
              <a:t>This analysis is based on the detailed records of coffee sales from a vending machine between March 2024 and March 2025. </a:t>
            </a:r>
          </a:p>
          <a:p>
            <a:pPr algn="l"/>
            <a:endParaRPr lang="en-GB" sz="2800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63D6C644-20A0-E195-EEC8-2955A702B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0240" y="218391"/>
            <a:ext cx="1171529" cy="780714"/>
          </a:xfrm>
          <a:prstGeom prst="rect">
            <a:avLst/>
          </a:prstGeom>
        </p:spPr>
      </p:pic>
      <p:pic>
        <p:nvPicPr>
          <p:cNvPr id="7" name="Picture 6" descr="A machine with a cup of coffee">
            <a:extLst>
              <a:ext uri="{FF2B5EF4-FFF2-40B4-BE49-F238E27FC236}">
                <a16:creationId xmlns:a16="http://schemas.microsoft.com/office/drawing/2014/main" id="{1DF7218A-3227-11A6-B0E3-9C23509A9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982" y="1241361"/>
            <a:ext cx="3873286" cy="4360622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B88EBC6B-86F8-581C-132B-D8F18EA65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1" name="Picture 10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C87EFC91-2E47-A881-A125-D803DF054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" y="6512820"/>
            <a:ext cx="549017" cy="365868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1638E9A4-16CC-F2F7-E25A-2F56D8848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9D87677-72A6-9976-954C-3C1D8559304F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035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A3EA-7AC7-0E8D-60D5-6EA4E5D00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8A5E-A2C4-3E07-9934-CB30457CA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54467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4000" b="1" dirty="0"/>
              <a:t>The Analysis is intended for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B8A4E-E6CC-B59C-4B8A-6B4F0861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450" y="1196994"/>
            <a:ext cx="8624990" cy="5482975"/>
          </a:xfrm>
          <a:ln>
            <a:noFill/>
          </a:ln>
        </p:spPr>
        <p:txBody>
          <a:bodyPr>
            <a:normAutofit/>
          </a:bodyPr>
          <a:lstStyle/>
          <a:p>
            <a:pPr algn="l"/>
            <a:endParaRPr lang="en-GB" dirty="0"/>
          </a:p>
          <a:p>
            <a:pPr algn="l"/>
            <a:r>
              <a:rPr lang="en-GB" dirty="0"/>
              <a:t>   Purchasing patterns as per time of the day (Time grouping)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   </a:t>
            </a:r>
          </a:p>
          <a:p>
            <a:pPr algn="l"/>
            <a:r>
              <a:rPr lang="en-GB" dirty="0"/>
              <a:t>Quarterly sales trend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   </a:t>
            </a:r>
          </a:p>
          <a:p>
            <a:pPr algn="l"/>
            <a:r>
              <a:rPr lang="en-GB" dirty="0"/>
              <a:t>Customer  coffee preferences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   </a:t>
            </a:r>
          </a:p>
          <a:p>
            <a:pPr algn="l"/>
            <a:r>
              <a:rPr lang="en-GB" dirty="0"/>
              <a:t>Customer payment reference</a:t>
            </a:r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C0B54285-314C-5EFA-B6B0-F3309EBD7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0107" y="30698"/>
            <a:ext cx="1171529" cy="780714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607CAA60-F5F9-2951-138D-03A267353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FEB1E4F4-F604-6C3B-563A-AABD64EC6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93B9EB4-B71D-B4C4-DBB7-92417514CFCB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E0FCA9CA-7C3E-07D4-58D5-F486D86DE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176" y="1732666"/>
            <a:ext cx="320327" cy="213468"/>
          </a:xfrm>
          <a:prstGeom prst="rect">
            <a:avLst/>
          </a:prstGeom>
        </p:spPr>
      </p:pic>
      <p:pic>
        <p:nvPicPr>
          <p:cNvPr id="6" name="Picture 5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21B0417D-D27D-F531-C3B7-DE7179796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49" y="3133408"/>
            <a:ext cx="320327" cy="213468"/>
          </a:xfrm>
          <a:prstGeom prst="rect">
            <a:avLst/>
          </a:prstGeom>
        </p:spPr>
      </p:pic>
      <p:pic>
        <p:nvPicPr>
          <p:cNvPr id="8" name="Picture 7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2DDDE6D4-C8E2-CBBA-5025-B82906A39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549" y="4437918"/>
            <a:ext cx="320327" cy="213468"/>
          </a:xfrm>
          <a:prstGeom prst="rect">
            <a:avLst/>
          </a:prstGeom>
        </p:spPr>
      </p:pic>
      <p:pic>
        <p:nvPicPr>
          <p:cNvPr id="9" name="Picture 8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D8DEFFE6-D241-0CFA-45CD-42FD29AB65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71" y="5849162"/>
            <a:ext cx="320327" cy="21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92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2283-3443-C22F-D257-308FE24F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121F-0313-586F-FF49-EFB945937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82" y="-140492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2400" b="1" dirty="0"/>
              <a:t>Purchasing patterns as per time of the day (Time grouping)</a:t>
            </a:r>
            <a:br>
              <a:rPr lang="en-GB" sz="2400" b="1" dirty="0"/>
            </a:br>
            <a:endParaRPr lang="en-GB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775E5-63F7-76EF-78E0-4245664FA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032" y="4854733"/>
            <a:ext cx="11601019" cy="1972569"/>
          </a:xfrm>
          <a:ln>
            <a:solidFill>
              <a:schemeClr val="bg1"/>
            </a:solidFill>
          </a:ln>
        </p:spPr>
        <p:txBody>
          <a:bodyPr>
            <a:normAutofit fontScale="55000" lnSpcReduction="20000"/>
          </a:bodyPr>
          <a:lstStyle/>
          <a:p>
            <a:pPr algn="l"/>
            <a:r>
              <a:rPr lang="en-GB" dirty="0"/>
              <a:t>Insight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Increased staffing for both evening and afternoon sales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Ensure machines are in good order for smooth daily operation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Help in stocking management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Recommendation</a:t>
            </a:r>
          </a:p>
          <a:p>
            <a:pPr algn="l"/>
            <a:r>
              <a:rPr lang="en-GB" dirty="0"/>
              <a:t> Increase staffing towards afternoons and evenings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dirty="0"/>
          </a:p>
          <a:p>
            <a:endParaRPr lang="en-GB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GB" dirty="0"/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4F28FB5D-3946-A7FF-0871-3A842D2FA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27" y="30698"/>
            <a:ext cx="1171529" cy="780714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FA999FD2-25D3-6982-59ED-4215CC7D6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1" name="Picture 10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BE7D0A62-14D9-9839-1D32-C14561946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" y="6512820"/>
            <a:ext cx="549017" cy="365868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F6A7EDF1-CD23-E12F-0560-27B4F6F38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27DB984-A26E-54B9-6CDE-BF8ECEEFBEA3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FEE0189-DA10-FD22-2333-A6ADB1FF1C4E}"/>
              </a:ext>
            </a:extLst>
          </p:cNvPr>
          <p:cNvGraphicFramePr>
            <a:graphicFrameLocks/>
          </p:cNvGraphicFramePr>
          <p:nvPr/>
        </p:nvGraphicFramePr>
        <p:xfrm>
          <a:off x="1470365" y="635951"/>
          <a:ext cx="9451635" cy="40782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791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FB07-F365-7718-A14C-CBA9D991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55D2B-72FF-AF6F-61A8-44418DE107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88" y="-474921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2400" b="1" dirty="0"/>
              <a:t>Quarterly sales trend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5A0D003-A37B-0153-1A9C-D44409623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1207" y="4622800"/>
            <a:ext cx="10830559" cy="19440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sz="1600" dirty="0"/>
              <a:t>Insight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600" dirty="0"/>
              <a:t>Coffee sale more during quarter 1 and quarter 4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600" dirty="0"/>
              <a:t>Customers tend to buy coffee more during winter season</a:t>
            </a:r>
          </a:p>
          <a:p>
            <a:pPr algn="l"/>
            <a:endParaRPr lang="en-GB" sz="1600" dirty="0"/>
          </a:p>
          <a:p>
            <a:pPr algn="l"/>
            <a:r>
              <a:rPr lang="en-GB" sz="1600" dirty="0"/>
              <a:t>Recommendation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GB" sz="1600" dirty="0"/>
              <a:t>Staffing and other resources should be increased during winter period</a:t>
            </a:r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3901B9FA-BA8F-D4F4-D6E3-B214F9CEC7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27" y="30698"/>
            <a:ext cx="1171529" cy="780714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6EF4D9F6-A9D6-D867-4221-952FCAAD7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1" name="Picture 10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2EC84FA7-045C-1D15-CCFB-E040718A7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" y="6512820"/>
            <a:ext cx="549017" cy="365868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DF0D2669-9533-93A7-D17C-B554C462C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2980A24-993D-F871-5095-6474B4BAD8CA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C511BD9-13E5-A562-D7D6-7C38E93760CF}"/>
              </a:ext>
            </a:extLst>
          </p:cNvPr>
          <p:cNvGraphicFramePr>
            <a:graphicFrameLocks/>
          </p:cNvGraphicFramePr>
          <p:nvPr/>
        </p:nvGraphicFramePr>
        <p:xfrm>
          <a:off x="461207" y="979153"/>
          <a:ext cx="10830560" cy="3579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89081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F25D0-3E30-93EC-BAD9-DDFF937CB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DA53-B8EF-6DCD-475F-6A2AD3F5C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88" y="-474921"/>
            <a:ext cx="9144000" cy="979153"/>
          </a:xfrm>
          <a:solidFill>
            <a:schemeClr val="bg1">
              <a:alpha val="18000"/>
            </a:schemeClr>
          </a:solidFill>
        </p:spPr>
        <p:txBody>
          <a:bodyPr>
            <a:normAutofit/>
          </a:bodyPr>
          <a:lstStyle/>
          <a:p>
            <a:r>
              <a:rPr lang="en-GB" sz="2400" b="1" dirty="0"/>
              <a:t>Customer payment preference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55D4D38-BCFD-670B-CC2E-D3AB2E0B2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1914" y="5049471"/>
            <a:ext cx="11488171" cy="136144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GB" dirty="0"/>
              <a:t>Insight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Customers prefer card payment to cash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GB" dirty="0"/>
          </a:p>
          <a:p>
            <a:pPr algn="l"/>
            <a:r>
              <a:rPr lang="en-GB" dirty="0"/>
              <a:t>Recommendation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GB" dirty="0"/>
              <a:t>Provide additional POS to reduce waiting time</a:t>
            </a:r>
          </a:p>
          <a:p>
            <a:pPr algn="l"/>
            <a:endParaRPr lang="en-GB" dirty="0"/>
          </a:p>
          <a:p>
            <a:pPr algn="l"/>
            <a:endParaRPr lang="en-GB" dirty="0"/>
          </a:p>
        </p:txBody>
      </p:sp>
      <p:pic>
        <p:nvPicPr>
          <p:cNvPr id="5" name="Picture 4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3CB382CE-4CF8-2F8B-D6E1-3C65E87A3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627" y="30698"/>
            <a:ext cx="1171529" cy="780714"/>
          </a:xfrm>
          <a:prstGeom prst="rect">
            <a:avLst/>
          </a:prstGeom>
        </p:spPr>
      </p:pic>
      <p:pic>
        <p:nvPicPr>
          <p:cNvPr id="10" name="Picture 9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7042F574-9B98-EBB5-9BF3-A382C0DF2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71" y="6062630"/>
            <a:ext cx="1171529" cy="780714"/>
          </a:xfrm>
          <a:prstGeom prst="rect">
            <a:avLst/>
          </a:prstGeom>
        </p:spPr>
      </p:pic>
      <p:pic>
        <p:nvPicPr>
          <p:cNvPr id="11" name="Picture 10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672E61C9-2744-D017-07A8-BCE4F6386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2" y="6512820"/>
            <a:ext cx="549017" cy="365868"/>
          </a:xfrm>
          <a:prstGeom prst="rect">
            <a:avLst/>
          </a:prstGeom>
        </p:spPr>
      </p:pic>
      <p:pic>
        <p:nvPicPr>
          <p:cNvPr id="12" name="Picture 11" descr="A white cup with brown foam in it&#10;&#10;AI-generated content may be incorrect.">
            <a:extLst>
              <a:ext uri="{FF2B5EF4-FFF2-40B4-BE49-F238E27FC236}">
                <a16:creationId xmlns:a16="http://schemas.microsoft.com/office/drawing/2014/main" id="{F5D61F75-7E33-2687-A826-3969EC50F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" y="3927"/>
            <a:ext cx="549017" cy="3658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ED007C1-FE99-F4AD-EF40-1FB0A82F6D91}"/>
              </a:ext>
            </a:extLst>
          </p:cNvPr>
          <p:cNvSpPr/>
          <p:nvPr/>
        </p:nvSpPr>
        <p:spPr>
          <a:xfrm>
            <a:off x="12949" y="0"/>
            <a:ext cx="12179051" cy="684334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F6079C2-690B-1461-5A2C-0870E8D98846}"/>
              </a:ext>
            </a:extLst>
          </p:cNvPr>
          <p:cNvGraphicFramePr>
            <a:graphicFrameLocks/>
          </p:cNvGraphicFramePr>
          <p:nvPr/>
        </p:nvGraphicFramePr>
        <p:xfrm>
          <a:off x="2722880" y="830714"/>
          <a:ext cx="8087360" cy="4068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7519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168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Coffee Sales Analysis </vt:lpstr>
      <vt:lpstr>Coffee Sales Analysis</vt:lpstr>
      <vt:lpstr>The Analysis is intended for</vt:lpstr>
      <vt:lpstr>Purchasing patterns as per time of the day (Time grouping) </vt:lpstr>
      <vt:lpstr>Quarterly sales trend</vt:lpstr>
      <vt:lpstr>Customer payment preference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Azeezat Akinyemi</dc:creator>
  <cp:lastModifiedBy>Azeezat Akinyemi</cp:lastModifiedBy>
  <cp:revision>2</cp:revision>
  <dcterms:created xsi:type="dcterms:W3CDTF">2026-02-22T12:56:20Z</dcterms:created>
  <dcterms:modified xsi:type="dcterms:W3CDTF">2026-02-23T19:02:53Z</dcterms:modified>
</cp:coreProperties>
</file>